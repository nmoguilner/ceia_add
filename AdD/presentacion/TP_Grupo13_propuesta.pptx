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2B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2B600"/>
                </a:solidFill>
                <a:latin typeface="Trebuchet MS"/>
              </a:rPr>
              <a:t>GRUPO 13  ·  ANÁLISIS DE DATOS  ·  2B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607040" cy="1645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4600" b="1">
                <a:solidFill>
                  <a:srgbClr val="FFFFFF"/>
                </a:solidFill>
                <a:latin typeface="Trebuchet MS"/>
              </a:rPr>
              <a:t>¿Cuánta propina dejará</a:t>
            </a:r>
          </a:p>
          <a:p>
            <a:pPr algn="l">
              <a:spcAft>
                <a:spcPts val="400"/>
              </a:spcAft>
            </a:pPr>
            <a:r>
              <a:rPr sz="4600" b="1">
                <a:solidFill>
                  <a:srgbClr val="FFFFFF"/>
                </a:solidFill>
                <a:latin typeface="Trebuchet MS"/>
              </a:rPr>
              <a:t>el pasajero?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00400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CADCFC"/>
                </a:solidFill>
                <a:latin typeface="Calibri"/>
              </a:rPr>
              <a:t>Yellow Taxi NYC — de 20 variables crudas a un dataset listo para modelar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023360"/>
            <a:ext cx="329184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2B600"/>
                </a:solidFill>
                <a:latin typeface="Trebuchet MS"/>
              </a:rPr>
              <a:t>3,95 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663440"/>
            <a:ext cx="32918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CADCFC"/>
                </a:solidFill>
                <a:latin typeface="Calibri"/>
              </a:rPr>
              <a:t>viajes (marzo 2026)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4023360"/>
            <a:ext cx="329184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2B600"/>
                </a:solidFill>
                <a:latin typeface="Trebuchet MS"/>
              </a:rPr>
              <a:t>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4663440"/>
            <a:ext cx="32918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CADCFC"/>
                </a:solidFill>
                <a:latin typeface="Calibri"/>
              </a:rPr>
              <a:t>variables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4023360"/>
            <a:ext cx="329184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2B600"/>
                </a:solidFill>
                <a:latin typeface="Trebuchet MS"/>
              </a:rPr>
              <a:t>Regresión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4663440"/>
            <a:ext cx="32918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CADCFC"/>
                </a:solidFill>
                <a:latin typeface="Calibri"/>
              </a:rPr>
              <a:t>target: tip_amount (USD)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80644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Fioranelli · Lerner · Makk · Moguilner · Varela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F2B600"/>
                </a:solidFill>
                <a:latin typeface="Calibri"/>
              </a:rPr>
              <a:t>github.com/gvar1965/ceia_add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2B600"/>
                </a:solidFill>
                <a:latin typeface="Trebuchet MS"/>
              </a:rPr>
              <a:t>1 · </a:t>
            </a:r>
            <a:r>
              <a:rPr sz="1500" b="1">
                <a:solidFill>
                  <a:srgbClr val="6B7280"/>
                </a:solidFill>
                <a:latin typeface="Trebuchet MS"/>
              </a:rPr>
              <a:t>EXPLORACIÓN Y COMPRENSIÓN DE LOS DATOS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6213E"/>
                </a:solidFill>
                <a:latin typeface="Trebuchet MS"/>
              </a:rPr>
              <a:t>Exploración y comprensión de los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5486400" cy="457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400"/>
              </a:spcAft>
            </a:pPr>
            <a:r>
              <a:rPr sz="1600" b="1">
                <a:solidFill>
                  <a:srgbClr val="F2B600"/>
                </a:solidFill>
                <a:latin typeface="Calibri"/>
              </a:rPr>
              <a:t>▪  </a:t>
            </a:r>
            <a:r>
              <a:rPr sz="1600" b="1">
                <a:solidFill>
                  <a:srgbClr val="333333"/>
                </a:solidFill>
                <a:latin typeface="Calibri"/>
              </a:rPr>
              <a:t>3.952.451 viajes × 20 variables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F2B600"/>
                </a:solidFill>
                <a:latin typeface="Calibri"/>
              </a:rPr>
              <a:t>▪  </a:t>
            </a:r>
            <a:r>
              <a:rPr sz="1600" b="0">
                <a:solidFill>
                  <a:srgbClr val="333333"/>
                </a:solidFill>
                <a:latin typeface="Calibri"/>
              </a:rPr>
              <a:t>Faltantes: 23,93% en 5 columnas, 100% en viajes Flex Fare → </a:t>
            </a:r>
            <a:r>
              <a:rPr sz="1600" b="1">
                <a:solidFill>
                  <a:srgbClr val="333333"/>
                </a:solidFill>
                <a:latin typeface="Calibri"/>
              </a:rPr>
              <a:t>MAR/estructural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F2B600"/>
                </a:solidFill>
                <a:latin typeface="Calibri"/>
              </a:rPr>
              <a:t>▪  </a:t>
            </a:r>
            <a:r>
              <a:rPr sz="1600" b="0">
                <a:solidFill>
                  <a:srgbClr val="333333"/>
                </a:solidFill>
                <a:latin typeface="Calibri"/>
              </a:rPr>
              <a:t>La propina en efectivo no se registra → </a:t>
            </a:r>
            <a:r>
              <a:rPr sz="1600" b="1">
                <a:solidFill>
                  <a:srgbClr val="333333"/>
                </a:solidFill>
                <a:latin typeface="Calibri"/>
              </a:rPr>
              <a:t>MNAR</a:t>
            </a:r>
            <a:r>
              <a:rPr sz="1600" b="0">
                <a:solidFill>
                  <a:srgbClr val="333333"/>
                </a:solidFill>
                <a:latin typeface="Calibri"/>
              </a:rPr>
              <a:t> (decide el universo)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F2B600"/>
                </a:solidFill>
                <a:latin typeface="Calibri"/>
              </a:rPr>
              <a:t>▪  </a:t>
            </a:r>
            <a:r>
              <a:rPr sz="1600" b="0">
                <a:solidFill>
                  <a:srgbClr val="333333"/>
                </a:solidFill>
                <a:latin typeface="Calibri"/>
              </a:rPr>
              <a:t>Errores imposibles: duraciones ≤ 0, distancias de 288 mil millas, importes negativos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F2B600"/>
                </a:solidFill>
                <a:latin typeface="Calibri"/>
              </a:rPr>
              <a:t>▪  </a:t>
            </a:r>
            <a:r>
              <a:rPr sz="1600" b="0">
                <a:solidFill>
                  <a:srgbClr val="333333"/>
                </a:solidFill>
                <a:latin typeface="Calibri"/>
              </a:rPr>
              <a:t>Criterio: </a:t>
            </a:r>
            <a:r>
              <a:rPr sz="1600" b="1">
                <a:solidFill>
                  <a:srgbClr val="333333"/>
                </a:solidFill>
                <a:latin typeface="Calibri"/>
              </a:rPr>
              <a:t>estadística robusta</a:t>
            </a:r>
            <a:r>
              <a:rPr sz="1600" b="0">
                <a:solidFill>
                  <a:srgbClr val="333333"/>
                </a:solidFill>
                <a:latin typeface="Calibri"/>
              </a:rPr>
              <a:t> — Pearson ≈ 0 vs Spearman 0,79 / Kendall 0,63</a:t>
            </a:r>
          </a:p>
        </p:txBody>
      </p:sp>
      <p:pic>
        <p:nvPicPr>
          <p:cNvPr id="5" name="Picture 4" descr="correlacio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3029120"/>
            <a:ext cx="5577840" cy="143983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09360" y="5989320"/>
            <a:ext cx="55778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Los outliers rompen Pearson; las medidas de rango revelan la relación real.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2B600"/>
                </a:solidFill>
                <a:latin typeface="Trebuchet MS"/>
              </a:rPr>
              <a:t>2 · </a:t>
            </a:r>
            <a:r>
              <a:rPr sz="1500" b="1">
                <a:solidFill>
                  <a:srgbClr val="6B7280"/>
                </a:solidFill>
                <a:latin typeface="Trebuchet MS"/>
              </a:rPr>
              <a:t>VISUALIZACIÓN: LOS HALLAZGOS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6213E"/>
                </a:solidFill>
                <a:latin typeface="Trebuchet MS"/>
              </a:rPr>
              <a:t>Visualización: los hallazgos</a:t>
            </a:r>
          </a:p>
        </p:txBody>
      </p:sp>
      <p:pic>
        <p:nvPicPr>
          <p:cNvPr id="4" name="Picture 3" descr="violi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62543"/>
            <a:ext cx="6126480" cy="206443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766560" y="1645920"/>
            <a:ext cx="5029200" cy="457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600"/>
              </a:spcAft>
            </a:pPr>
            <a:r>
              <a:rPr sz="1600" b="1">
                <a:solidFill>
                  <a:srgbClr val="F2B600"/>
                </a:solidFill>
                <a:latin typeface="Calibri"/>
              </a:rPr>
              <a:t>▪  </a:t>
            </a:r>
            <a:r>
              <a:rPr sz="1600" b="0">
                <a:solidFill>
                  <a:srgbClr val="333333"/>
                </a:solidFill>
                <a:latin typeface="Calibri"/>
              </a:rPr>
              <a:t>El tipo de tarifa codifica el destino: </a:t>
            </a:r>
            <a:r>
              <a:rPr sz="1600" b="1">
                <a:solidFill>
                  <a:srgbClr val="333333"/>
                </a:solidFill>
                <a:latin typeface="Calibri"/>
              </a:rPr>
              <a:t>JFK ~48 min vs estándar ~12 min</a:t>
            </a:r>
          </a:p>
          <a:p>
            <a:pPr>
              <a:spcAft>
                <a:spcPts val="1600"/>
              </a:spcAft>
            </a:pPr>
            <a:r>
              <a:rPr sz="1600" b="1">
                <a:solidFill>
                  <a:srgbClr val="F2B600"/>
                </a:solidFill>
                <a:latin typeface="Calibri"/>
              </a:rPr>
              <a:t>▪  </a:t>
            </a:r>
            <a:r>
              <a:rPr sz="1600" b="0">
                <a:solidFill>
                  <a:srgbClr val="333333"/>
                </a:solidFill>
                <a:latin typeface="Calibri"/>
              </a:rPr>
              <a:t>Negocio Manhattan-céntrico: </a:t>
            </a:r>
            <a:r>
              <a:rPr sz="1600" b="1">
                <a:solidFill>
                  <a:srgbClr val="333333"/>
                </a:solidFill>
                <a:latin typeface="Calibri"/>
              </a:rPr>
              <a:t>80,2% de viajes Manhattan→Manhattan</a:t>
            </a:r>
          </a:p>
          <a:p>
            <a:pPr>
              <a:spcAft>
                <a:spcPts val="1600"/>
              </a:spcAft>
            </a:pPr>
            <a:r>
              <a:rPr sz="1600" b="1">
                <a:solidFill>
                  <a:srgbClr val="F2B600"/>
                </a:solidFill>
                <a:latin typeface="Calibri"/>
              </a:rPr>
              <a:t>▪  </a:t>
            </a:r>
            <a:r>
              <a:rPr sz="1600" b="0">
                <a:solidFill>
                  <a:srgbClr val="333333"/>
                </a:solidFill>
                <a:latin typeface="Calibri"/>
              </a:rPr>
              <a:t>Efecto tráfico: velocidad mediana cae 12,8 → 8,2 mph (−36%)</a:t>
            </a:r>
          </a:p>
          <a:p>
            <a:pPr>
              <a:spcAft>
                <a:spcPts val="1600"/>
              </a:spcAft>
            </a:pPr>
            <a:r>
              <a:rPr sz="1600" b="1">
                <a:solidFill>
                  <a:srgbClr val="F2B600"/>
                </a:solidFill>
                <a:latin typeface="Calibri"/>
              </a:rPr>
              <a:t>▪  </a:t>
            </a:r>
            <a:r>
              <a:rPr sz="1600" b="0">
                <a:solidFill>
                  <a:srgbClr val="333333"/>
                </a:solidFill>
                <a:latin typeface="Calibri"/>
              </a:rPr>
              <a:t>Con tarjeta, </a:t>
            </a:r>
            <a:r>
              <a:rPr sz="1600" b="1">
                <a:solidFill>
                  <a:srgbClr val="333333"/>
                </a:solidFill>
                <a:latin typeface="Calibri"/>
              </a:rPr>
              <a:t>90,2% deja propina</a:t>
            </a:r>
            <a:r>
              <a:rPr sz="1600" b="0">
                <a:solidFill>
                  <a:srgbClr val="333333"/>
                </a:solidFill>
                <a:latin typeface="Calibri"/>
              </a:rPr>
              <a:t> (mediana 3,20 USD)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2B600"/>
                </a:solidFill>
                <a:latin typeface="Trebuchet MS"/>
              </a:rPr>
              <a:t>3 · </a:t>
            </a:r>
            <a:r>
              <a:rPr sz="1500" b="1">
                <a:solidFill>
                  <a:srgbClr val="6B7280"/>
                </a:solidFill>
                <a:latin typeface="Trebuchet MS"/>
              </a:rPr>
              <a:t>PLANTEO DEL PROBLEMA Y PREPROCESAMIENTO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6213E"/>
                </a:solidFill>
                <a:latin typeface="Trebuchet MS"/>
              </a:rPr>
              <a:t>Planteo del problema y preprocesamiento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1064240" cy="2377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200"/>
              </a:spcAft>
            </a:pPr>
            <a:r>
              <a:rPr sz="1600" b="1">
                <a:solidFill>
                  <a:srgbClr val="F2B600"/>
                </a:solidFill>
                <a:latin typeface="Calibri"/>
              </a:rPr>
              <a:t>▪  </a:t>
            </a:r>
            <a:r>
              <a:rPr sz="1600" b="0">
                <a:solidFill>
                  <a:srgbClr val="333333"/>
                </a:solidFill>
                <a:latin typeface="Calibri"/>
              </a:rPr>
              <a:t>Problema: </a:t>
            </a:r>
            <a:r>
              <a:rPr sz="1600" b="1">
                <a:solidFill>
                  <a:srgbClr val="333333"/>
                </a:solidFill>
                <a:latin typeface="Calibri"/>
              </a:rPr>
              <a:t>regresión de tip_amount</a:t>
            </a:r>
            <a:r>
              <a:rPr sz="1600" b="0">
                <a:solidFill>
                  <a:srgbClr val="333333"/>
                </a:solidFill>
                <a:latin typeface="Calibri"/>
              </a:rPr>
              <a:t>  ·  universo: solo tarjeta (MNAR del efectivo)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F2B600"/>
                </a:solidFill>
                <a:latin typeface="Calibri"/>
              </a:rPr>
              <a:t>▪  </a:t>
            </a:r>
            <a:r>
              <a:rPr sz="1600" b="0">
                <a:solidFill>
                  <a:srgbClr val="333333"/>
                </a:solidFill>
                <a:latin typeface="Calibri"/>
              </a:rPr>
              <a:t>Limpieza: se eliminan errores imposibles + filtros físicos → quedan 2.545.275 viajes (64,4%)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F2B600"/>
                </a:solidFill>
                <a:latin typeface="Calibri"/>
              </a:rPr>
              <a:t>▪  </a:t>
            </a:r>
            <a:r>
              <a:rPr sz="1600" b="0">
                <a:solidFill>
                  <a:srgbClr val="333333"/>
                </a:solidFill>
                <a:latin typeface="Calibri"/>
              </a:rPr>
              <a:t>Anti-leakage: </a:t>
            </a:r>
            <a:r>
              <a:rPr sz="1600" b="1">
                <a:solidFill>
                  <a:srgbClr val="333333"/>
                </a:solidFill>
                <a:latin typeface="Calibri"/>
              </a:rPr>
              <a:t>split 80/20 ANTES de transformar</a:t>
            </a:r>
            <a:r>
              <a:rPr sz="1600" b="0">
                <a:solidFill>
                  <a:srgbClr val="333333"/>
                </a:solidFill>
                <a:latin typeface="Calibri"/>
              </a:rPr>
              <a:t> — todo se ajusta solo en train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F2B600"/>
                </a:solidFill>
                <a:latin typeface="Calibri"/>
              </a:rPr>
              <a:t>▪  </a:t>
            </a:r>
            <a:r>
              <a:rPr sz="1600" b="0">
                <a:solidFill>
                  <a:srgbClr val="333333"/>
                </a:solidFill>
                <a:latin typeface="Calibri"/>
              </a:rPr>
              <a:t>Outliers: winsorización p1–p99  ·  escalado: estandarización Z-score (Clase 5)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867" y="4663440"/>
            <a:ext cx="2468880" cy="1005840"/>
          </a:xfrm>
          <a:prstGeom prst="rect">
            <a:avLst/>
          </a:prstGeom>
          <a:solidFill>
            <a:srgbClr val="F4F5F7"/>
          </a:solidFill>
          <a:ln w="19050">
            <a:solidFill>
              <a:srgbClr val="F2B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6213E"/>
                </a:solidFill>
                <a:latin typeface="Calibri"/>
              </a:rPr>
              <a:t>Filtrar +
limpiar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91459" y="4892040"/>
            <a:ext cx="50292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2B600"/>
                </a:solidFill>
                <a:latin typeface="Trebuchet MS"/>
              </a:rP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3421227" y="4663440"/>
            <a:ext cx="2468880" cy="1005840"/>
          </a:xfrm>
          <a:prstGeom prst="rect">
            <a:avLst/>
          </a:prstGeom>
          <a:solidFill>
            <a:srgbClr val="F4F5F7"/>
          </a:solidFill>
          <a:ln w="19050">
            <a:solidFill>
              <a:srgbClr val="F2B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6213E"/>
                </a:solidFill>
                <a:latin typeface="Calibri"/>
              </a:rPr>
              <a:t>Split
80 /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71819" y="4892040"/>
            <a:ext cx="50292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2B600"/>
                </a:solidFill>
                <a:latin typeface="Trebuchet MS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1587" y="4663440"/>
            <a:ext cx="2468880" cy="1005840"/>
          </a:xfrm>
          <a:prstGeom prst="rect">
            <a:avLst/>
          </a:prstGeom>
          <a:solidFill>
            <a:srgbClr val="F4F5F7"/>
          </a:solidFill>
          <a:ln w="19050">
            <a:solidFill>
              <a:srgbClr val="F2B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6213E"/>
                </a:solidFill>
                <a:latin typeface="Calibri"/>
              </a:rPr>
              <a:t>Imputar +
acotar outliers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52179" y="4892040"/>
            <a:ext cx="50292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2B600"/>
                </a:solidFill>
                <a:latin typeface="Trebuchet MS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81947" y="4663440"/>
            <a:ext cx="2468880" cy="1005840"/>
          </a:xfrm>
          <a:prstGeom prst="rect">
            <a:avLst/>
          </a:prstGeom>
          <a:solidFill>
            <a:srgbClr val="F4F5F7"/>
          </a:solidFill>
          <a:ln w="19050">
            <a:solidFill>
              <a:srgbClr val="F2B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6213E"/>
                </a:solidFill>
                <a:latin typeface="Calibri"/>
              </a:rPr>
              <a:t>Escalar
(Z-score)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latin typeface="Calibri"/>
              </a:rPr>
              <a:t>Se excluye total_amount como feature: contiene la propina → fuga de información.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2B600"/>
                </a:solidFill>
                <a:latin typeface="Trebuchet MS"/>
              </a:rPr>
              <a:t>4 · </a:t>
            </a:r>
            <a:r>
              <a:rPr sz="1500" b="1">
                <a:solidFill>
                  <a:srgbClr val="6B7280"/>
                </a:solidFill>
                <a:latin typeface="Trebuchet MS"/>
              </a:rPr>
              <a:t>FEATURE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6213E"/>
                </a:solidFill>
                <a:latin typeface="Trebuchet MS"/>
              </a:rPr>
              <a:t>Feature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5486400" cy="457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400"/>
              </a:spcAft>
            </a:pPr>
            <a:r>
              <a:rPr sz="1600" b="1">
                <a:solidFill>
                  <a:srgbClr val="F2B600"/>
                </a:solidFill>
                <a:latin typeface="Calibri"/>
              </a:rPr>
              <a:t>▪  </a:t>
            </a:r>
            <a:r>
              <a:rPr sz="1600" b="0">
                <a:solidFill>
                  <a:srgbClr val="333333"/>
                </a:solidFill>
                <a:latin typeface="Calibri"/>
              </a:rPr>
              <a:t>Nuevas features: </a:t>
            </a:r>
            <a:r>
              <a:rPr sz="1600" b="1">
                <a:solidFill>
                  <a:srgbClr val="333333"/>
                </a:solidFill>
                <a:latin typeface="Calibri"/>
              </a:rPr>
              <a:t>speed_mph, fare_per_mile, es_aeropuerto, es_hora_pico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F2B600"/>
                </a:solidFill>
                <a:latin typeface="Calibri"/>
              </a:rPr>
              <a:t>▪  </a:t>
            </a:r>
            <a:r>
              <a:rPr sz="1600" b="0">
                <a:solidFill>
                  <a:srgbClr val="333333"/>
                </a:solidFill>
                <a:latin typeface="Calibri"/>
              </a:rPr>
              <a:t>Discretización por cuantiles de la tarifa (Clase 5) →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F2B600"/>
                </a:solidFill>
                <a:latin typeface="Calibri"/>
              </a:rPr>
              <a:t>▪  </a:t>
            </a:r>
            <a:r>
              <a:rPr sz="1600" b="0">
                <a:solidFill>
                  <a:srgbClr val="333333"/>
                </a:solidFill>
                <a:latin typeface="Calibri"/>
              </a:rPr>
              <a:t>Codificación: </a:t>
            </a:r>
            <a:r>
              <a:rPr sz="1600" b="1">
                <a:solidFill>
                  <a:srgbClr val="333333"/>
                </a:solidFill>
                <a:latin typeface="Calibri"/>
              </a:rPr>
              <a:t>cíclica (hora/día), one-hot, binaria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F2B600"/>
                </a:solidFill>
                <a:latin typeface="Calibri"/>
              </a:rPr>
              <a:t>▪  </a:t>
            </a:r>
            <a:r>
              <a:rPr sz="1600" b="0">
                <a:solidFill>
                  <a:srgbClr val="333333"/>
                </a:solidFill>
                <a:latin typeface="Calibri"/>
              </a:rPr>
              <a:t>Zonas (~260, alta cardinalidad) → </a:t>
            </a:r>
            <a:r>
              <a:rPr sz="1600" b="1">
                <a:solidFill>
                  <a:srgbClr val="333333"/>
                </a:solidFill>
                <a:latin typeface="Calibri"/>
              </a:rPr>
              <a:t>target encoding</a:t>
            </a:r>
            <a:r>
              <a:rPr sz="1600" b="0">
                <a:solidFill>
                  <a:srgbClr val="333333"/>
                </a:solidFill>
                <a:latin typeface="Calibri"/>
              </a:rPr>
              <a:t> (ajustado en train)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F2B600"/>
                </a:solidFill>
                <a:latin typeface="Calibri"/>
              </a:rPr>
              <a:t>▪  </a:t>
            </a:r>
            <a:r>
              <a:rPr sz="1600" b="0">
                <a:solidFill>
                  <a:srgbClr val="333333"/>
                </a:solidFill>
                <a:latin typeface="Calibri"/>
              </a:rPr>
              <a:t>Balance de clases: no aplica (es regresión)</a:t>
            </a:r>
          </a:p>
        </p:txBody>
      </p:sp>
      <p:pic>
        <p:nvPicPr>
          <p:cNvPr id="5" name="Picture 4" descr="discretiza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222594"/>
            <a:ext cx="5577840" cy="305289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09360" y="5897880"/>
            <a:ext cx="55778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La propina media crece con la tarifa: 2,31 → 3,03 → 3,85 → 7,38 USD.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2B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2B600"/>
                </a:solidFill>
                <a:latin typeface="Trebuchet MS"/>
              </a:rPr>
              <a:t>5 · </a:t>
            </a:r>
            <a:r>
              <a:rPr sz="1500" b="1">
                <a:solidFill>
                  <a:srgbClr val="CADCFC"/>
                </a:solidFill>
                <a:latin typeface="Trebuchet MS"/>
              </a:rPr>
              <a:t>REDUCCIÓN DE DIMENSIONALIDAD Y CIERRE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97280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Trebuchet MS"/>
              </a:rPr>
              <a:t>Selección de features, PCA y conclusiones</a:t>
            </a:r>
          </a:p>
        </p:txBody>
      </p:sp>
      <p:pic>
        <p:nvPicPr>
          <p:cNvPr id="5" name="Picture 4" descr="pca_varianz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39" y="2817697"/>
            <a:ext cx="5852160" cy="204556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675120" y="18288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 b="1">
                <a:solidFill>
                  <a:srgbClr val="F2B600"/>
                </a:solidFill>
                <a:latin typeface="Calibri"/>
              </a:rPr>
              <a:t>▪  </a:t>
            </a:r>
            <a:r>
              <a:rPr sz="1600" b="1">
                <a:solidFill>
                  <a:srgbClr val="F2B600"/>
                </a:solidFill>
                <a:latin typeface="Calibri"/>
              </a:rPr>
              <a:t>Filtros (Info Mutua + Spearman): 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F2B600"/>
                </a:solidFill>
                <a:latin typeface="Calibri"/>
              </a:rPr>
              <a:t>▪  </a:t>
            </a:r>
            <a:r>
              <a:rPr sz="1600" b="0">
                <a:solidFill>
                  <a:srgbClr val="FFFFFF"/>
                </a:solidFill>
                <a:latin typeface="Calibri"/>
              </a:rPr>
              <a:t>tarifa, distancia, duración y zonas son lo más relevante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F2B600"/>
                </a:solidFill>
                <a:latin typeface="Calibri"/>
              </a:rPr>
              <a:t>▪  </a:t>
            </a:r>
            <a:r>
              <a:rPr sz="1600" b="0">
                <a:solidFill>
                  <a:srgbClr val="FFFFFF"/>
                </a:solidFill>
                <a:latin typeface="Calibri"/>
              </a:rPr>
              <a:t>PCA: 9 componentes para el 90% → señal repartida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F2B600"/>
                </a:solidFill>
                <a:latin typeface="Calibri"/>
              </a:rPr>
              <a:t>▪  </a:t>
            </a:r>
            <a:r>
              <a:rPr sz="1600" b="1">
                <a:solidFill>
                  <a:srgbClr val="F2B600"/>
                </a:solidFill>
                <a:latin typeface="Calibri"/>
              </a:rPr>
              <a:t>→ no conviene PCA para modelar (se mantienen las features)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F2B600"/>
                </a:solidFill>
                <a:latin typeface="Calibri"/>
              </a:rPr>
              <a:t>▪  </a:t>
            </a:r>
            <a:r>
              <a:rPr sz="1600" b="0">
                <a:solidFill>
                  <a:srgbClr val="FFFFFF"/>
                </a:solidFill>
                <a:latin typeface="Calibri"/>
              </a:rPr>
              <a:t>Resultado: dataset limpio, sin fugas, listo para modelar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